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TECHNICAL PROJECT PRESENTATION &amp; APPLICATION WALKTHROUGH</a:t>
            </a:r>
          </a:p>
          <a:p>
            <a:pPr>
              <a:spcBef>
                <a:spcPts val="1200"/>
              </a:spcBef>
              <a:defRPr sz="3000" b="1">
                <a:solidFill>
                  <a:srgbClr val="FFFFFF"/>
                </a:solidFill>
                <a:latin typeface="Arial"/>
              </a:defRPr>
            </a:pPr>
            <a:r>
              <a:t>DevOps Incident Watchdog:</a:t>
            </a:r>
            <a:br/>
            <a:r>
              <a:t>Autonomous SRE Telemetry &amp; Closed-Loop Sprint Backlog Automation</a:t>
            </a:r>
          </a:p>
          <a:p>
            <a:pPr>
              <a:spcBef>
                <a:spcPts val="10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Monitored Microservice: FlashMart Tech (10-Minute E-Commerce at VIT Vellore Hub)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Submitted by: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S Hemal (Registration No: 24MIS0050)</a:t>
            </a:r>
          </a:p>
          <a:p>
            <a:pPr>
              <a:defRPr sz="1400">
                <a:solidFill>
                  <a:srgbClr val="38BDF8"/>
                </a:solidFill>
                <a:latin typeface="Arial"/>
              </a:defRPr>
            </a:pPr>
            <a:r>
              <a:t>Course: ISWE406 Agile Development Process and DevOps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School of Computer Science Engineering and Information Systems (SCOPE)</a:t>
            </a:r>
            <a:br/>
            <a:r>
              <a:t>Vellore Institute of Technology, Vellore Campus | Academic Year 2026-2027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Executive Problem Statement &amp; Project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Arial"/>
              </a:defRPr>
            </a:pPr>
            <a:r>
              <a:t>Why Traditional DevOps Fails During Promotional Flash Spikes: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1. Extreme Concurrency &amp; Dark Store Exhaustion: </a:t>
            </a:r>
            <a:r>
              <a:rPr sz="1300">
                <a:solidFill>
                  <a:srgbClr val="1E293B"/>
                </a:solidFill>
                <a:latin typeface="Arial"/>
              </a:rPr>
              <a:t>In quick-commerce platforms (FlashMart, Zepto, Blinkit), promotional flash sales generate sudden 50x demand spikes that deplete localized warehouse stock to zero within seconds.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2. Unhandled Microservice Boundary Crashes: </a:t>
            </a:r>
            <a:r>
              <a:rPr sz="1300">
                <a:solidFill>
                  <a:srgbClr val="1E293B"/>
                </a:solidFill>
                <a:latin typeface="Arial"/>
              </a:rPr>
              <a:t>Algorithms computing discount allocations or delivery slots encounter fatal ZeroDivisionError when stock drops to 0, crashing WSGI worker threads with HTTP 500.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3. Crippling Administrative Delay (Elevated MTTA): </a:t>
            </a:r>
            <a:r>
              <a:rPr sz="1300">
                <a:solidFill>
                  <a:srgbClr val="1E293B"/>
                </a:solidFill>
                <a:latin typeface="Arial"/>
              </a:rPr>
              <a:t>Traditional monitoring leaves crashes in raw CloudWatch streams. Engineers spend 2 to 8 hours manually locating logs, reproducing errors, and typing Jira/GitHub tickets.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4. The DevOps Incident Watchdog Solution: </a:t>
            </a:r>
            <a:r>
              <a:rPr sz="1300">
                <a:solidFill>
                  <a:srgbClr val="1E293B"/>
                </a:solidFill>
                <a:latin typeface="Arial"/>
              </a:rPr>
              <a:t>An event-driven, closed-loop SRE platform that autonomously captures crashes in CloudWatch, archives forensic JSON dumps in Amazon S3, mints structured Agile Bug Stories on GitHub, and enables automated CI/CD closure upon verified fix.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System Architecture: Decoupled Three-Tier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Core Subsystems &amp; Responsibilities: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Presentation Tier: </a:t>
            </a:r>
            <a:r>
              <a:rPr sz="1300">
                <a:solidFill>
                  <a:srgbClr val="1E293B"/>
                </a:solidFill>
                <a:latin typeface="Arial"/>
              </a:rPr>
              <a:t>FlashMart Single-Page Application (SPA) with dynamic delivery hub routing defaulting to VIT Vellore Campus.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Serverless Compute Tier: </a:t>
            </a:r>
            <a:r>
              <a:rPr sz="1300">
                <a:solidFill>
                  <a:srgbClr val="1E293B"/>
                </a:solidFill>
                <a:latin typeface="Arial"/>
              </a:rPr>
              <a:t>AWS Lambda microservices (Python 3.12, Flask adapter) coupled with asynchronous Watchdog triage worker.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Cloud &amp; Agile Tier: </a:t>
            </a:r>
            <a:r>
              <a:rPr sz="1300">
                <a:solidFill>
                  <a:srgbClr val="1E293B"/>
                </a:solidFill>
                <a:latin typeface="Arial"/>
              </a:rPr>
              <a:t>Amazon CloudWatch real-time metric ingestion, Amazon S3 immutable forensic vault, and GitHub Issues Kanban board.</a:t>
            </a:r>
          </a:p>
        </p:txBody>
      </p:sp>
      <p:pic>
        <p:nvPicPr>
          <p:cNvPr id="7" name="Picture 6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463040"/>
            <a:ext cx="62179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MICROSERVICE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1: FlashMart Storefront &amp; Campus Delivery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Customer Presentation Capabilities: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10-Minute Express Electronics: </a:t>
            </a:r>
            <a:r>
              <a:rPr sz="1300">
                <a:solidFill>
                  <a:srgbClr val="1E293B"/>
                </a:solidFill>
                <a:latin typeface="Arial"/>
              </a:rPr>
              <a:t>Realistic quick-commerce catalog offering electronics, smartphones, and accessories with zero external Node.js dependencies.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VIT Vellore Hub Selector: </a:t>
            </a:r>
            <a:r>
              <a:rPr sz="1300">
                <a:solidFill>
                  <a:srgbClr val="1E293B"/>
                </a:solidFill>
                <a:latin typeface="Arial"/>
              </a:rPr>
              <a:t>Dynamic location routing defaulting to VIT Vellore Campus (Men's Hostel Q-Block Dark Store).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Promotional Flash Sale Deal: </a:t>
            </a:r>
            <a:r>
              <a:rPr sz="1300">
                <a:solidFill>
                  <a:srgbClr val="1E293B"/>
                </a:solidFill>
                <a:latin typeface="Arial"/>
              </a:rPr>
              <a:t>Features OnePlus 11R 5G flash sale pricing with real-time countdown timer to test localized demand exhaustion.</a:t>
            </a:r>
          </a:p>
        </p:txBody>
      </p:sp>
      <p:pic>
        <p:nvPicPr>
          <p:cNvPr id="7" name="Picture 6" descr="snapshot1_store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43525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INCIDENT REPRODUCTION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3: Server ZeroDivisionError Crash &amp;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  <a:latin typeface="Arial"/>
              </a:defRPr>
            </a:pPr>
            <a:r>
              <a:t>Runtime Microservice Failure: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The Stockout Edge-Case: </a:t>
            </a:r>
            <a:r>
              <a:rPr sz="1300">
                <a:solidFill>
                  <a:srgbClr val="1E293B"/>
                </a:solidFill>
                <a:latin typeface="Arial"/>
              </a:rPr>
              <a:t>When inventory reaches stock = 0 at the VIT Vellore dark store, the checkout worker executes: allocation = 100 / stock.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Fatal Python Exception: </a:t>
            </a:r>
            <a:r>
              <a:rPr sz="1300">
                <a:solidFill>
                  <a:srgbClr val="1E293B"/>
                </a:solidFill>
                <a:latin typeface="Arial"/>
              </a:rPr>
              <a:t>Raises an unhandled ZeroDivisionError, crashing the worker thread and returning HTTP 500 Internal Server Error.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Structured Telemetry Emission: </a:t>
            </a:r>
            <a:r>
              <a:rPr sz="1300">
                <a:solidFill>
                  <a:srgbClr val="1E293B"/>
                </a:solidFill>
                <a:latin typeface="Arial"/>
              </a:rPr>
              <a:t>Logger immediately emits [CRITICAL_ALERT] INCIDENT_DETECTED with exception context and timestamp to stdout.</a:t>
            </a:r>
          </a:p>
        </p:txBody>
      </p:sp>
      <p:pic>
        <p:nvPicPr>
          <p:cNvPr id="7" name="Picture 6" descr="snapshot3_server_cr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CUSTOMER INSULATION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2: Client Stockout Exception Interception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  <a:latin typeface="Arial"/>
              </a:defRPr>
            </a:pPr>
            <a:r>
              <a:t>Defensive Client Safeguards: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HTTP 500 Interception: </a:t>
            </a:r>
            <a:r>
              <a:rPr sz="1300">
                <a:solidFill>
                  <a:srgbClr val="1E293B"/>
                </a:solidFill>
                <a:latin typeface="Arial"/>
              </a:rPr>
              <a:t>Client SPA intercepts server 500 errors before browser rendering, completely preventing white-screen crashes.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Informative Waitlist Modal: </a:t>
            </a:r>
            <a:r>
              <a:rPr sz="1300">
                <a:solidFill>
                  <a:srgbClr val="1E293B"/>
                </a:solidFill>
                <a:latin typeface="Arial"/>
              </a:rPr>
              <a:t>Renders 'Item Not Deliverable to Your Location' modal explaining out-of-stock condition at VIT Vellore Hub.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Customer Trust Preservation: </a:t>
            </a:r>
            <a:r>
              <a:rPr sz="1300">
                <a:solidFill>
                  <a:srgbClr val="1E293B"/>
                </a:solidFill>
                <a:latin typeface="Arial"/>
              </a:rPr>
              <a:t>Offers a polite 'Notify Me When Available' button and alternate dark store selection, preserving brand equity.</a:t>
            </a:r>
          </a:p>
        </p:txBody>
      </p:sp>
      <p:pic>
        <p:nvPicPr>
          <p:cNvPr id="7" name="Picture 6" descr="snapshot2_stockout_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SRE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4: AWS CloudWatch Metric Ingestion &amp; SRE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Sub-5-Second Incident Ingestion: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Non-Invasive Log Filtering: </a:t>
            </a:r>
            <a:r>
              <a:rPr sz="1300">
                <a:solidFill>
                  <a:srgbClr val="1E293B"/>
                </a:solidFill>
                <a:latin typeface="Arial"/>
              </a:rPr>
              <a:t>CloudWatch Metric Filter continuously monitors /aws/lambda/watchdog-target-app log stream matching [CRITICAL_ALERT].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Zero Polling Latency: </a:t>
            </a:r>
            <a:r>
              <a:rPr sz="1300">
                <a:solidFill>
                  <a:srgbClr val="1E293B"/>
                </a:solidFill>
                <a:latin typeface="Arial"/>
              </a:rPr>
              <a:t>Fires CloudWatch alarm and triggers Watchdog Lambda asynchronously within 4.2 seconds.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SRE Backstage Dashboard: </a:t>
            </a:r>
            <a:r>
              <a:rPr sz="1300">
                <a:solidFill>
                  <a:srgbClr val="1E293B"/>
                </a:solidFill>
                <a:latin typeface="Arial"/>
              </a:rPr>
              <a:t>Dedicated operator console displaying active CloudWatch metrics, S3 dump links, and Agile backlog sync status.</a:t>
            </a:r>
          </a:p>
        </p:txBody>
      </p:sp>
      <p:pic>
        <p:nvPicPr>
          <p:cNvPr id="7" name="Picture 6" descr="snapshot4_sr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43525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FORENSIC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5: Forensic JSON Vault in Amazon 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Tamper-Proof Audit Evidence: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Comprehensive JSON Dump: </a:t>
            </a:r>
            <a:r>
              <a:rPr sz="1300">
                <a:solidFill>
                  <a:srgbClr val="1E293B"/>
                </a:solidFill>
                <a:latin typeface="Arial"/>
              </a:rPr>
              <a:t>Captures uncompressed stack trace, git commit SHA, HTTP headers, timestamp, and dark store hub identifier.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11 9's Durability Guarantee: </a:t>
            </a:r>
            <a:r>
              <a:rPr sz="1300">
                <a:solidFill>
                  <a:srgbClr val="1E293B"/>
                </a:solidFill>
                <a:latin typeface="Arial"/>
              </a:rPr>
              <a:t>Stored in private S3 bucket (devops-incident-watchdog-logs-401537512022) with Block Public Access and AES-256 encryption.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Cryptographic INC-ID: </a:t>
            </a:r>
            <a:r>
              <a:rPr sz="1300">
                <a:solidFill>
                  <a:srgbClr val="1E293B"/>
                </a:solidFill>
                <a:latin typeface="Arial"/>
              </a:rPr>
              <a:t>Mints immutable key: incidents/YYYY-MM-DD/INC-1791945923-07CD12B5.json for audit permanence.</a:t>
            </a:r>
          </a:p>
        </p:txBody>
      </p:sp>
      <p:pic>
        <p:nvPicPr>
          <p:cNvPr id="7" name="Picture 6" descr="snapshot5_s3_v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43525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AGILE BACKLOG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6: Autonomous Bug Story Minting on GitHub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Zero-Touch Sprint Ticket Creation: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GitHub REST API v3 Integration: </a:t>
            </a:r>
            <a:r>
              <a:rPr sz="1300">
                <a:solidFill>
                  <a:srgbClr val="1E293B"/>
                </a:solidFill>
                <a:latin typeface="Arial"/>
              </a:rPr>
              <a:t>Watchdog Lambda dispatches authenticated HTTP POST call to create structured Bug User Story within 24 seconds.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Standardized Diagnostics Table: </a:t>
            </a:r>
            <a:r>
              <a:rPr sz="1300">
                <a:solidFill>
                  <a:srgbClr val="1E293B"/>
                </a:solidFill>
                <a:latin typeface="Arial"/>
              </a:rPr>
              <a:t>Embeds incident ID, error type, target microservice, VIT campus hub, and direct S3 forensic URI link.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6 Definition of Done (DoD) Criteria: </a:t>
            </a:r>
            <a:r>
              <a:rPr sz="1300">
                <a:solidFill>
                  <a:srgbClr val="1E293B"/>
                </a:solidFill>
                <a:latin typeface="Arial"/>
              </a:rPr>
              <a:t>Includes explicit acceptance criteria checkboxes ensuring code guard, customer insulation, and pytest CI verification.</a:t>
            </a:r>
          </a:p>
        </p:txBody>
      </p:sp>
      <p:pic>
        <p:nvPicPr>
          <p:cNvPr id="7" name="Picture 6" descr="snapshot6_github_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43525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CONTINUOUS REMEDIATION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7: Automated Pytest CI/CD &amp; Smart Commit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  <a:latin typeface="Arial"/>
              </a:defRPr>
            </a:pPr>
            <a:r>
              <a:t>GitOps Automated Lifecycle: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Smart Commit Syntax: </a:t>
            </a:r>
            <a:r>
              <a:rPr sz="1300">
                <a:solidFill>
                  <a:srgbClr val="1E293B"/>
                </a:solidFill>
                <a:latin typeface="Arial"/>
              </a:rPr>
              <a:t>Developer commits code fix with: git commit -am 'Fixes #1: Handled division by zero in checkout logic'.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GitHub Actions CI Runner: </a:t>
            </a:r>
            <a:r>
              <a:rPr sz="1300">
                <a:solidFill>
                  <a:srgbClr val="1E293B"/>
                </a:solidFill>
                <a:latin typeface="Arial"/>
              </a:rPr>
              <a:t>Automatically executes 9 Pytest regression test suites on Ubuntu runner in 0.53 seconds (100% test pass rate).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Zero-Touch Issue Closure: </a:t>
            </a:r>
            <a:r>
              <a:rPr sz="1300">
                <a:solidFill>
                  <a:srgbClr val="1E293B"/>
                </a:solidFill>
                <a:latin typeface="Arial"/>
              </a:rPr>
              <a:t>Redeploys patched package to AWS Lambda and automatically transitions GitHub Issue #1 to Closed (Done).</a:t>
            </a:r>
          </a:p>
        </p:txBody>
      </p:sp>
      <p:pic>
        <p:nvPicPr>
          <p:cNvPr id="7" name="Picture 6" descr="snapshot7_cic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43525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SECURITY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Closed-Loop Telemetry &amp; GitOps Security Safety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Enforced Architectural Invariants: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Gate 1 &amp; 2 (Ingestion &amp; Isolation): </a:t>
            </a:r>
            <a:r>
              <a:rPr sz="1300">
                <a:solidFill>
                  <a:srgbClr val="1E293B"/>
                </a:solidFill>
                <a:latin typeface="Arial"/>
              </a:rPr>
              <a:t>Read-only CloudWatch subscription; serverless sandbox with zero persistent host state.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Gate 3 &amp; 4 (Durability &amp; IAM): </a:t>
            </a:r>
            <a:r>
              <a:rPr sz="1300">
                <a:solidFill>
                  <a:srgbClr val="1E293B"/>
                </a:solidFill>
                <a:latin typeface="Arial"/>
              </a:rPr>
              <a:t>S3 Private Bucket with AES-256 SSE; strictly scoped IAM execution roles (S3 PutObject only).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Gate 5 &amp; 6 (Backlog &amp; Testing): </a:t>
            </a:r>
            <a:r>
              <a:rPr sz="1300">
                <a:solidFill>
                  <a:srgbClr val="1E293B"/>
                </a:solidFill>
                <a:latin typeface="Arial"/>
              </a:rPr>
              <a:t>Sanitized ticket payload (zero PII); mandatory 9 Pytest regression tests passing before deployment.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Gate 7 (Traceability): </a:t>
            </a:r>
            <a:r>
              <a:rPr sz="1300">
                <a:solidFill>
                  <a:srgbClr val="1E293B"/>
                </a:solidFill>
                <a:latin typeface="Arial"/>
              </a:rPr>
              <a:t>Immutable GitOps SHA commit linking directly to Issue #1.</a:t>
            </a:r>
          </a:p>
        </p:txBody>
      </p:sp>
      <p:pic>
        <p:nvPicPr>
          <p:cNvPr id="7" name="Picture 6" descr="figure3_safety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22280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CLOUD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AWS Serverless Production Deployment &amp; Cost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389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Production Cloud Parameters: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AWS Region: </a:t>
            </a:r>
            <a:r>
              <a:rPr sz="1300">
                <a:solidFill>
                  <a:srgbClr val="1E293B"/>
                </a:solidFill>
                <a:latin typeface="Arial"/>
              </a:rPr>
              <a:t>Deployed serverless in Sydney (ap-southeast-2) under AWS Account 401537512022.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Compute Sizing: </a:t>
            </a:r>
            <a:r>
              <a:rPr sz="1300">
                <a:solidFill>
                  <a:srgbClr val="1E293B"/>
                </a:solidFill>
                <a:latin typeface="Arial"/>
              </a:rPr>
              <a:t>Both watchdog-target-app and watchdog-incident-creator configured with 128 MB RAM (sub-300ms cold starts).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100% Free Tier Eligible ($0.00/mo): </a:t>
            </a:r>
            <a:r>
              <a:rPr sz="1300">
                <a:solidFill>
                  <a:srgbClr val="1E293B"/>
                </a:solidFill>
                <a:latin typeface="Arial"/>
              </a:rPr>
              <a:t>Lambda (1M free requests/mo), CloudWatch (5GB free logs), and S3 (5GB free storage) incur zero continuous operational cost.</a:t>
            </a:r>
          </a:p>
        </p:txBody>
      </p:sp>
      <p:pic>
        <p:nvPicPr>
          <p:cNvPr id="7" name="Picture 6" descr="figure4_aws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19690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WORKFLOW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Summary of the 7-Stage End-to-End Incident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FlashMart &amp; DevOps Incident Watchdog | Student: S Hemal (24MIS0050) | ISWE406 | VIT Vellore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1E293B"/>
                </a:solidFill>
                <a:latin typeface="Arial"/>
              </a:defRPr>
            </a:pPr>
            <a:r>
              <a:t>From unhandled runtime microservice crash to zero-touch sprint closure across 7 automated stages:</a:t>
            </a:r>
          </a:p>
        </p:txBody>
      </p:sp>
      <p:pic>
        <p:nvPicPr>
          <p:cNvPr id="7" name="Picture 6" descr="figure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103120"/>
            <a:ext cx="9966960" cy="29900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7548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Continuous SRE Feedback Loop: </a:t>
            </a:r>
            <a:r>
              <a:rPr sz="1300">
                <a:solidFill>
                  <a:srgbClr val="1E293B"/>
                </a:solidFill>
                <a:latin typeface="Arial"/>
              </a:rPr>
              <a:t>Eliminates manual triage handoffs, guarantees 11 9's forensic compliance, and maintains real-time Agile velocity tracking.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  <a:latin typeface="Arial"/>
              </a:defRPr>
            </a:pPr>
            <a:r>
              <a:t>VERIFIED PROJECT OUTCOMES &amp; CONCLUSION</a:t>
            </a:r>
          </a:p>
          <a:p>
            <a:pPr>
              <a:spcBef>
                <a:spcPts val="1000"/>
              </a:spcBef>
              <a:defRPr sz="1500">
                <a:solidFill>
                  <a:srgbClr val="E2E8F0"/>
                </a:solidFill>
                <a:latin typeface="Arial"/>
              </a:defRPr>
            </a:pPr>
            <a:r>
              <a:t>DevOps Incident Watchdog establishes a fully autonomous, closed-loop Site Reliability Engineering feedback bridge for cloud-native microservices: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3774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8BDF8"/>
                </a:solidFill>
                <a:latin typeface="Arial"/>
              </a:defRPr>
            </a:pPr>
            <a:r>
              <a:t>&lt; 24s</a:t>
            </a:r>
          </a:p>
          <a:p>
            <a:pPr algn="ctr">
              <a:spcBef>
                <a:spcPts val="4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Incident-to-Ticket Filing</a:t>
            </a:r>
            <a:br/>
            <a:r>
              <a:t>(vs. 2–8 Hours Manual)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23774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4ADE80"/>
                </a:solidFill>
                <a:latin typeface="Arial"/>
              </a:defRPr>
            </a:pPr>
            <a:r>
              <a:t>0.53s</a:t>
            </a:r>
          </a:p>
          <a:p>
            <a:pPr algn="ctr">
              <a:spcBef>
                <a:spcPts val="4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Pytest Suite Execution</a:t>
            </a:r>
            <a:br/>
            <a:r>
              <a:t>(9/9 Tests Passing 100%)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23774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ACC15"/>
                </a:solidFill>
                <a:latin typeface="Arial"/>
              </a:defRPr>
            </a:pPr>
            <a:r>
              <a:t>11 9's</a:t>
            </a:r>
          </a:p>
          <a:p>
            <a:pPr algn="ctr">
              <a:spcBef>
                <a:spcPts val="4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S3 Durability SLA</a:t>
            </a:r>
            <a:br/>
            <a:r>
              <a:t>(Immutable Forensics)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0" y="2377440"/>
            <a:ext cx="2377440" cy="1463040"/>
          </a:xfrm>
          <a:prstGeom prst="rect">
            <a:avLst/>
          </a:prstGeom>
          <a:solidFill>
            <a:srgbClr val="1E293B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A855F7"/>
                </a:solidFill>
                <a:latin typeface="Arial"/>
              </a:defRPr>
            </a:pPr>
            <a:r>
              <a:t>$0.00</a:t>
            </a:r>
          </a:p>
          <a:p>
            <a:pPr algn="ctr">
              <a:spcBef>
                <a:spcPts val="4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Monthly Infrastructure</a:t>
            </a:r>
            <a:br/>
            <a:r>
              <a:t>(100% Free Tier)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Key Takeaway for Faculty Evaluation:</a:t>
            </a:r>
          </a:p>
          <a:p>
            <a:pPr>
              <a:spcBef>
                <a:spcPts val="6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By shifting incident triage from manual, error-prone on-call rotations to software-defined, event-driven automation, the project demonstrates that Agile velocity and Site Reliability Engineering operate in complete harmony.</a:t>
            </a:r>
          </a:p>
          <a:p>
            <a:pPr>
              <a:spcBef>
                <a:spcPts val="1200"/>
              </a:spcBef>
              <a:defRPr sz="1600" b="1">
                <a:solidFill>
                  <a:srgbClr val="38BDF8"/>
                </a:solidFill>
                <a:latin typeface="Arial"/>
              </a:defRPr>
            </a:pPr>
            <a:r>
              <a:t>Thank You! Open for Faculty Demonstration &amp; Technical Q&amp;A.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
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Arial"/>
              </a:defRPr>
            </a:pPr>
            <a:r>
              <a:t>PROJECT APPLICATION &amp; TECHNICAL INCIDENT WALKTHROUGH GUIDE</a:t>
            </a:r>
          </a:p>
          <a:p>
            <a:pPr>
              <a:spcBef>
                <a:spcPts val="14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FlashMart Quick-Commerce &amp;</a:t>
            </a:r>
            <a:br/>
            <a:r>
              <a:t>Autonomous DevOps Incident Watchdog</a:t>
            </a:r>
          </a:p>
          <a:p>
            <a:pPr>
              <a:spcBef>
                <a:spcPts val="12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Autonomous SRE Telemetry Ingestion, Private S3 Cloud Forensics, and Zero-Touch Agile Sprint Backlog Automation</a:t>
            </a:r>
          </a:p>
          <a:p>
            <a:pPr>
              <a:spcBef>
                <a:spcPts val="1000"/>
              </a:spcBef>
              <a:defRPr sz="1600">
                <a:solidFill>
                  <a:srgbClr val="0284C7"/>
                </a:solidFill>
                <a:latin typeface="Arial"/>
              </a:defRPr>
            </a:pPr>
            <a:r>
              <a:t>―――――――――――――――――――――――――――――――――――――――――――――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Author: S Hemal (Registration No: 24MIS0050)</a:t>
            </a:r>
            <a:br/>
            <a:r>
              <a:t>Course: ISWE406 Agile Development Process and DevOps</a:t>
            </a:r>
            <a:br/>
            <a:r>
              <a:t>School: School of Computer Science Engineering and Information Systems (SCOPE)</a:t>
            </a:r>
            <a:br/>
            <a:r>
              <a:t>Institution: Vellore Institute of Technology (VIT), Vellore Campus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PROJECT OVERVIEW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Executive Problem Statement &amp; Project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  <a:latin typeface="Arial"/>
              </a:defRPr>
            </a:pPr>
            <a:r>
              <a:t>The Modern Microservice Paradox: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Cloud-Native Scale: </a:t>
            </a:r>
            <a:r>
              <a:rPr sz="1150">
                <a:solidFill>
                  <a:srgbClr val="334155"/>
                </a:solidFill>
                <a:latin typeface="Arial"/>
              </a:rPr>
              <a:t>Modern distributed architectures generate thousands of log events per second, overwhelming human Site Reliability Engineering (SRE) operators.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On-Call Fatigue &amp; MTTA Drag: </a:t>
            </a:r>
            <a:r>
              <a:rPr sz="1150">
                <a:solidFill>
                  <a:srgbClr val="334155"/>
                </a:solidFill>
                <a:latin typeface="Arial"/>
              </a:rPr>
              <a:t>Manual incident triage requires engineers to grep CloudWatch logs, reproduce crashes locally, and write bug tickets, driving Mean-Time-to-Acknowledge (MTTA) to 2-8 hours.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Ephemeral State Loss: </a:t>
            </a:r>
            <a:r>
              <a:rPr sz="1150">
                <a:solidFill>
                  <a:srgbClr val="334155"/>
                </a:solidFill>
                <a:latin typeface="Arial"/>
              </a:rPr>
              <a:t>Serverless container recycling wipes in-memory crash context before root-cause forensic data can be preserved.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Uninsulated User Experience: </a:t>
            </a:r>
            <a:r>
              <a:rPr sz="1150">
                <a:solidFill>
                  <a:srgbClr val="334155"/>
                </a:solidFill>
                <a:latin typeface="Arial"/>
              </a:rPr>
              <a:t>Unhandled runtime 500 exceptions crash browser tabs with blank screens, deteriorating customer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2588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Arial"/>
              </a:defRPr>
            </a:pPr>
            <a:r>
              <a:t>Autonomous DevOps Watchdog Solution: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Zero-Human Telemetry Routing: </a:t>
            </a:r>
            <a:r>
              <a:rPr sz="1150">
                <a:solidFill>
                  <a:srgbClr val="334155"/>
                </a:solidFill>
                <a:latin typeface="Arial"/>
              </a:rPr>
              <a:t>Real-time AWS CloudWatch Metric Filters detect critical runtime exceptions asynchronously in under 4.2 seconds.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Immutable Cloud Forensics: </a:t>
            </a:r>
            <a:r>
              <a:rPr sz="1150">
                <a:solidFill>
                  <a:srgbClr val="334155"/>
                </a:solidFill>
                <a:latin typeface="Arial"/>
              </a:rPr>
              <a:t>Mints cryptographic JSON dumps uploaded directly to private Amazon S3 with 11 9's durability and AES-256 encryption.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Zero-Touch Sprint Integration: </a:t>
            </a:r>
            <a:r>
              <a:rPr sz="1150">
                <a:solidFill>
                  <a:srgbClr val="334155"/>
                </a:solidFill>
                <a:latin typeface="Arial"/>
              </a:rPr>
              <a:t>Dispatches authenticated GitHub REST API calls to mint structured Bug User Stories with 6 Definition of Done criteria.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Defensive Client Shielding: </a:t>
            </a:r>
            <a:r>
              <a:rPr sz="1150">
                <a:solidFill>
                  <a:srgbClr val="334155"/>
                </a:solidFill>
                <a:latin typeface="Arial"/>
              </a:rPr>
              <a:t>SPA client intercepts HTTP 500 errors gracefully, displaying an informative stockout waitlist modal to insulate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SYSTEM ARCHITECTURE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Decoupled Three-Tier System Architecture &amp; Boundary Separation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Three-Tier Decoupled Pipeline: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Tier 1 (Client Presentation): </a:t>
            </a:r>
            <a:r>
              <a:rPr sz="1150">
                <a:solidFill>
                  <a:srgbClr val="334155"/>
                </a:solidFill>
                <a:latin typeface="Arial"/>
              </a:rPr>
              <a:t>FlashMart Tech storefront with geofenced dark store selector, dynamic cart drawer, and defensive HTTP 500 interception shield.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Tier 2 (Compute &amp; Execution): </a:t>
            </a:r>
            <a:r>
              <a:rPr sz="1150">
                <a:solidFill>
                  <a:srgbClr val="334155"/>
                </a:solidFill>
                <a:latin typeface="Arial"/>
              </a:rPr>
              <a:t>Decoupled AWS Lambda microservices (target app &amp; watchdog incident creator) running in isolated serverless sandboxes.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Tier 3 (Cloud Services &amp; Agile Backlog): </a:t>
            </a:r>
            <a:r>
              <a:rPr sz="1150">
                <a:solidFill>
                  <a:srgbClr val="334155"/>
                </a:solidFill>
                <a:latin typeface="Arial"/>
              </a:rPr>
              <a:t>AWS CloudWatch Metric Filters, Amazon S3 forensic vault (401537512022), and GitHub Issues Agile backlog.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Architectural Invariant: </a:t>
            </a:r>
            <a:r>
              <a:rPr sz="1150">
                <a:solidFill>
                  <a:srgbClr val="334155"/>
                </a:solidFill>
                <a:latin typeface="Arial"/>
              </a:rPr>
              <a:t>Total blast radius isolation: crashes in target application logic cannot degrade or block the watchdog telemetry pipeline.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2336292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FIGURE 1: DECOUPLED THREE-TIER SYSTEM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2592324"/>
            <a:ext cx="6291072" cy="240487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628900"/>
            <a:ext cx="6217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STOREFRONT PRESENTATION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1A: Storefront Catalog, Search &amp; Campus Dark 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Catalog &amp; Routing Architecture: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12-Item Multi-Category Catalog: </a:t>
            </a:r>
            <a:r>
              <a:rPr sz="1150">
                <a:solidFill>
                  <a:srgbClr val="334155"/>
                </a:solidFill>
                <a:latin typeface="Arial"/>
              </a:rPr>
              <a:t>Covers Smartphones, Laptops, Audio, Wearables, Gaming, and Power Essentials with live stock numbers and zero framework bloat.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Dynamic Search &amp; Category Chips: </a:t>
            </a:r>
            <a:r>
              <a:rPr sz="1150">
                <a:solidFill>
                  <a:srgbClr val="334155"/>
                </a:solidFill>
                <a:latin typeface="Arial"/>
              </a:rPr>
              <a:t>Client-side category filtering (⚡ Flash Deals, 💻 Laptops, 🎧 Audio, etc.) and instant real-time DOM query search matching.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6 Geofenced Dark Store Nodes: </a:t>
            </a:r>
            <a:r>
              <a:rPr sz="1150">
                <a:solidFill>
                  <a:srgbClr val="334155"/>
                </a:solidFill>
                <a:latin typeface="Arial"/>
              </a:rPr>
              <a:t>Simulates dynamic micro-fulfillment routing across VIT Vellore Hostels (Men's Q-Block, Ladies L-Block), Tech Tower, and Anna Auditorium.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Active Student Session Banner: </a:t>
            </a:r>
            <a:r>
              <a:rPr sz="1150">
                <a:solidFill>
                  <a:srgbClr val="334155"/>
                </a:solidFill>
                <a:latin typeface="Arial"/>
              </a:rPr>
              <a:t>Verified student header: S Hemal (24MIS0050) | ISWE406 Agile &amp; DevOps | VIT Vellore Campus (SCOPE).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696212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LIVE SYSTEM CAPTURE: STOREFRONT BROWSER VIEW (PORT 5000)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1952244"/>
            <a:ext cx="6291072" cy="395935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storefront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8882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CHECKOUT ENGINE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1B: Interactive Cart Drawer &amp; Campus Payment Gateways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Cart &amp; Transaction Management: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Persistent Sliding Cart Drawer: </a:t>
            </a:r>
            <a:r>
              <a:rPr sz="1150">
                <a:solidFill>
                  <a:srgbClr val="334155"/>
                </a:solidFill>
                <a:latin typeface="Arial"/>
              </a:rPr>
              <a:t>Dynamic quantity increment/decrement, live subtotal computation, zero packaging fee logic, and full drawer overlay.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Campus Promotional Coupon Engine: </a:t>
            </a:r>
            <a:r>
              <a:rPr sz="1150">
                <a:solidFill>
                  <a:srgbClr val="334155"/>
                </a:solidFill>
                <a:latin typeface="Arial"/>
              </a:rPr>
              <a:t>REST endpoint validates student coupon VITFEST50 (10% student festival discount: -₹3,500 applied) with real-time bill deduction.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4 Campus Payment Gateways: </a:t>
            </a:r>
            <a:r>
              <a:rPr sz="1150">
                <a:solidFill>
                  <a:srgbClr val="334155"/>
                </a:solidFill>
                <a:latin typeface="Arial"/>
              </a:rPr>
              <a:t>Supports Instant UPI (GPay/PhonePe), VIT Student RFID Smart Card tap-and-pay, Debit/Credit Card, and Cash on Delivery.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Client-Side Order Validation: </a:t>
            </a:r>
            <a:r>
              <a:rPr sz="1150">
                <a:solidFill>
                  <a:srgbClr val="334155"/>
                </a:solidFill>
                <a:latin typeface="Arial"/>
              </a:rPr>
              <a:t>Secures itemized billing details before transmitting JSON checkout payload to backend worker endpoint.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696212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LIVE SYSTEM CAPTURE: CART DRAWER &amp; APPLIED VITFEST50 COUPON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1952244"/>
            <a:ext cx="6291072" cy="395935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cart_checkou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8882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DELIVERY LIFECYCLE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1C: Sub-10-Minute Micro-Fulfillment &amp; Live Order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Micro-Fulfillment &amp; Driver Telemetry: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4-Stage Visual Progress Stepper: </a:t>
            </a:r>
            <a:r>
              <a:rPr sz="1150">
                <a:solidFill>
                  <a:srgbClr val="334155"/>
                </a:solidFill>
                <a:latin typeface="Arial"/>
              </a:rPr>
              <a:t>Tracks order lifecycle: Order Placed -&gt; Packed at Dark Store -&gt; Out for Delivery (Active) -&gt; Delivered.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Live Countdown Timer: </a:t>
            </a:r>
            <a:r>
              <a:rPr sz="1150">
                <a:solidFill>
                  <a:srgbClr val="334155"/>
                </a:solidFill>
                <a:latin typeface="Arial"/>
              </a:rPr>
              <a:t>Active countdown clock simulating hyper-local delivery arriving in 05:42 minutes to student residence.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Assigned Courier Profile: </a:t>
            </a:r>
            <a:r>
              <a:rPr sz="1150">
                <a:solidFill>
                  <a:srgbClr val="334155"/>
                </a:solidFill>
                <a:latin typeface="Arial"/>
              </a:rPr>
              <a:t>Features verified delivery partner Ramesh Kumar (⚡ Fast Express Courier, 4.9★ rating) on Electric Scooter TN-23-AB-1024.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Secure Handover OTP: </a:t>
            </a:r>
            <a:r>
              <a:rPr sz="1150">
                <a:solidFill>
                  <a:srgbClr val="334155"/>
                </a:solidFill>
                <a:latin typeface="Arial"/>
              </a:rPr>
              <a:t>Generates 4-digit verification code (OTP: 4921) ensuring zero-tamper physical delivery at Men's Hostel Q-Block.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696212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LIVE SYSTEM CAPTURE: 10-MIN LIVE TRACKING, COURIER &amp; OTP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1952244"/>
            <a:ext cx="6291072" cy="395935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storefront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8882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INCIDENT REPRODUCTION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3: Dark Store Stockout Edge-Case &amp; Runtime Server Crash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Arial"/>
              </a:defRPr>
            </a:pPr>
            <a:r>
              <a:t>Runtime Microservice Failure: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The Stockout Edge-Case Condition: </a:t>
            </a:r>
            <a:r>
              <a:rPr sz="1150">
                <a:solidFill>
                  <a:srgbClr val="334155"/>
                </a:solidFill>
                <a:latin typeface="Arial"/>
              </a:rPr>
              <a:t>During flash sales, local dark store inventory hits stock = 0. The checkout inventory allocation formula executes: allocation = 100 / stock_count.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Unhandled Python Runtime Exception: </a:t>
            </a:r>
            <a:r>
              <a:rPr sz="1150">
                <a:solidFill>
                  <a:srgbClr val="334155"/>
                </a:solidFill>
                <a:latin typeface="Arial"/>
              </a:rPr>
              <a:t>Raises fatal ZeroDivisionError: division by zero in app.py at line 142, crashing the worker thread and emitting HTTP 500.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Structured Telemetry Emission: </a:t>
            </a:r>
            <a:r>
              <a:rPr sz="1150">
                <a:solidFill>
                  <a:srgbClr val="334155"/>
                </a:solidFill>
                <a:latin typeface="Arial"/>
              </a:rPr>
              <a:t>Logger immediately intercepts stack trace and emits structured JSON stdout: [CRITICAL_ALERT] INCIDENT_DETECTED.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Forensic Metadata Captured: </a:t>
            </a:r>
            <a:r>
              <a:rPr sz="1150">
                <a:solidFill>
                  <a:srgbClr val="334155"/>
                </a:solidFill>
                <a:latin typeface="Arial"/>
              </a:rPr>
              <a:t>Includes incident ID INC-1791945923-07CD12B5, ISO 8601 timestamp, target service, error type, and complete traceback.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670304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POWERSHELL SERVER TERMINAL: ZERODIVISIONERROR &amp; CRITICAL ALERT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1926336"/>
            <a:ext cx="6291072" cy="4011168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terminal_cr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62912"/>
            <a:ext cx="6217920" cy="39380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CUSTOMER INSULATION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2: Client Exception Interception &amp; Customer Insulation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2C55E"/>
                </a:solidFill>
                <a:latin typeface="Arial"/>
              </a:defRPr>
            </a:pPr>
            <a:r>
              <a:t>Defensive Client Safeguards: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Client HTTP 500 Interception: </a:t>
            </a:r>
            <a:r>
              <a:rPr sz="1150">
                <a:solidFill>
                  <a:srgbClr val="334155"/>
                </a:solidFill>
                <a:latin typeface="Arial"/>
              </a:rPr>
              <a:t>SPA frontend catches server 500 Internal Server Error asynchronously, completely preventing browser white-screen crashes.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Polite Waitlist Modal: </a:t>
            </a:r>
            <a:r>
              <a:rPr sz="1150">
                <a:solidFill>
                  <a:srgbClr val="334155"/>
                </a:solidFill>
                <a:latin typeface="Arial"/>
              </a:rPr>
              <a:t>Renders 'Item Not Deliverable to Your Location' drawer explaining stock exhaustion at Men's Hostel Dark Store (VIT Vellore).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Customer Trust &amp; Retention: </a:t>
            </a:r>
            <a:r>
              <a:rPr sz="1150">
                <a:solidFill>
                  <a:srgbClr val="334155"/>
                </a:solidFill>
                <a:latin typeface="Arial"/>
              </a:rPr>
              <a:t>Offers a 'Notify Me When Available' waitlist subscription button and alternative dark store pickup selection, preserving brand reputation.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Seamless User Experience: </a:t>
            </a:r>
            <a:r>
              <a:rPr sz="1150">
                <a:solidFill>
                  <a:srgbClr val="334155"/>
                </a:solidFill>
                <a:latin typeface="Arial"/>
              </a:rPr>
              <a:t>Shields end users from raw infrastructure failures while background SRE automation handles the incident.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696212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LIVE SYSTEM CAPTURE: GRACEFUL STOCKOUT WAITLIST CUSTOMER SHIELD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1952244"/>
            <a:ext cx="6291072" cy="395935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stockout_waitlist_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8882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SRE OBSERVABILITY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4: AWS CloudWatch Metric Ingestion &amp; SRE Backstage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Sub-5-Second Incident Ingestion: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Non-Invasive Metric Filter Pattern: </a:t>
            </a:r>
            <a:r>
              <a:rPr sz="1150">
                <a:solidFill>
                  <a:srgbClr val="334155"/>
                </a:solidFill>
                <a:latin typeface="Arial"/>
              </a:rPr>
              <a:t>CloudWatch Metric Filter continuously monitors log group /aws/lambda/watchdog-target-app matching pattern [CRITICAL_ALERT].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 Polling Latency: </a:t>
            </a:r>
            <a:r>
              <a:rPr sz="1150">
                <a:solidFill>
                  <a:srgbClr val="334155"/>
                </a:solidFill>
                <a:latin typeface="Arial"/>
              </a:rPr>
              <a:t>Fires CloudWatch alarm state asynchronously and dispatches execution event to Watchdog Lambda within 4.2 seconds.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Dedicated SRE Backstage Console: </a:t>
            </a:r>
            <a:r>
              <a:rPr sz="1150">
                <a:solidFill>
                  <a:srgbClr val="334155"/>
                </a:solidFill>
                <a:latin typeface="Arial"/>
              </a:rPr>
              <a:t>Web-based operator dashboard (/?view=devops) surfaces live incident metrics, CloudWatch alarm status, and Agile backlog sync.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Mean Time to Acknowledge (MTTA): </a:t>
            </a:r>
            <a:r>
              <a:rPr sz="1150">
                <a:solidFill>
                  <a:srgbClr val="334155"/>
                </a:solidFill>
                <a:latin typeface="Arial"/>
              </a:rPr>
              <a:t>Reduces incident discovery latency from 2-8 hours of manual log grepping down to &lt; 24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696212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LIVE SYSTEM CAPTURE: SRE BACKSTAGE DASHBOARD &amp; TELEMETRY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1952244"/>
            <a:ext cx="6291072" cy="395935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sre_backstag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8882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FORENSIC COMPLIANCE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5: Cryptographic Forensic Archival in Amazon S3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Tamper-Proof Audit Compliance: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Comprehensive Forensic JSON Schema: </a:t>
            </a:r>
            <a:r>
              <a:rPr sz="1150">
                <a:solidFill>
                  <a:srgbClr val="334155"/>
                </a:solidFill>
                <a:latin typeface="Arial"/>
              </a:rPr>
              <a:t>Captures uncompressed traceback, git commit SHA, HTTP headers, dark store hub node, environment, and UTC timestamp.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11 9's Durability Guarantee: </a:t>
            </a:r>
            <a:r>
              <a:rPr sz="1150">
                <a:solidFill>
                  <a:srgbClr val="334155"/>
                </a:solidFill>
                <a:latin typeface="Arial"/>
              </a:rPr>
              <a:t>Stored in private S3 bucket devops-incident-watchdog-logs-401537512022 with Block Public Access and AES-256 encryption.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Cryptographic INC-ID Naming: </a:t>
            </a:r>
            <a:r>
              <a:rPr sz="1150">
                <a:solidFill>
                  <a:srgbClr val="334155"/>
                </a:solidFill>
                <a:latin typeface="Arial"/>
              </a:rPr>
              <a:t>Mints immutable key: incidents/2026-10-14/INC-1791945923-07CD12B5.json for tamper-proof audit trails.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6421" y="1243584"/>
            <a:ext cx="4312117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REAL AMAZON S3 CONSOLE: TARGET BUCKET &amp; INCIDENT FOLDERS 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9845" y="1499616"/>
            <a:ext cx="4385269" cy="231343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aws_s3_bucket_inci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421" y="1536192"/>
            <a:ext cx="4312117" cy="22402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330767" y="3867912"/>
            <a:ext cx="4163424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REAL AMAZON S3 CONSOLE: INCIDENT FORENSIC DUMP OBJECT PROPERTIES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4191" y="4123944"/>
            <a:ext cx="4236576" cy="231343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al_aws_s3_incident_du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767" y="4160520"/>
            <a:ext cx="4163424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AGILE BACKLOG INTEGRATION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6: Autonomous Bug Story Minting on GitHub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Zero-Touch Sprint Integration: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GitHub REST API v3 Integration: </a:t>
            </a:r>
            <a:r>
              <a:rPr sz="1150">
                <a:solidFill>
                  <a:srgbClr val="334155"/>
                </a:solidFill>
                <a:latin typeface="Arial"/>
              </a:rPr>
              <a:t>Watchdog Lambda dispatches authenticated HTTP POST call to mint structured Bug User Story within 24 seconds of crash.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Standardized Agile Bug Story: </a:t>
            </a:r>
            <a:r>
              <a:rPr sz="1150">
                <a:solidFill>
                  <a:srgbClr val="334155"/>
                </a:solidFill>
                <a:latin typeface="Arial"/>
              </a:rPr>
              <a:t>Formatted as: 'As an SRE on-call engineer, I need the checkout allocation microservice to handle stock = 0 without throwing ZeroDivisionError...'.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Automated Diagnostics Table: </a:t>
            </a:r>
            <a:r>
              <a:rPr sz="1150">
                <a:solidFill>
                  <a:srgbClr val="334155"/>
                </a:solidFill>
                <a:latin typeface="Arial"/>
              </a:rPr>
              <a:t>Embeds incident ID, error type, target microservice, VIT campus hub, and direct S3 forensic URI link.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6 Definition of Done (DoD) Criteria: </a:t>
            </a:r>
            <a:r>
              <a:rPr sz="1150">
                <a:solidFill>
                  <a:srgbClr val="334155"/>
                </a:solidFill>
                <a:latin typeface="Arial"/>
              </a:rPr>
              <a:t>Includes explicit acceptance checkboxes for code guard, customer insulation, and pytest CI regression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514856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GITHUB ISSUES CAPTURE: ISSUE #1 WITH DIAGNOSTICS &amp; 6 DOD CRITERIA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1770888"/>
            <a:ext cx="6291072" cy="4322064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github_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07464"/>
            <a:ext cx="6217920" cy="42489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CONTINUOUS REMEDIATION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7: GitHub Actions CI/CD &amp; Smart Commit Automated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2C55E"/>
                </a:solidFill>
                <a:latin typeface="Arial"/>
              </a:defRPr>
            </a:pPr>
            <a:r>
              <a:t>GitOps Automated Lifecycle: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GitOps Smart Commit Syntax: </a:t>
            </a:r>
            <a:r>
              <a:rPr sz="1150">
                <a:solidFill>
                  <a:srgbClr val="334155"/>
                </a:solidFill>
                <a:latin typeface="Arial"/>
              </a:rPr>
              <a:t>Developer commits code fix referencing issue ID: git commit -am 'Fixes #1: Handled division by zero in checkout logic'.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GitHub Actions CI Runner: </a:t>
            </a:r>
            <a:r>
              <a:rPr sz="1150">
                <a:solidFill>
                  <a:srgbClr val="334155"/>
                </a:solidFill>
                <a:latin typeface="Arial"/>
              </a:rPr>
              <a:t>Triggers automated CI regression suite on push, verifying all test suites on Ubuntu runner.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Green Checkmark Build Status: </a:t>
            </a:r>
            <a:r>
              <a:rPr sz="1150">
                <a:solidFill>
                  <a:srgbClr val="334155"/>
                </a:solidFill>
                <a:latin typeface="Arial"/>
              </a:rPr>
              <a:t>GitHub repository confirms passing build with green checkmark next to the commit SHA in main branch.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Zero-Touch Issue Transition: </a:t>
            </a:r>
            <a:r>
              <a:rPr sz="1150">
                <a:solidFill>
                  <a:srgbClr val="334155"/>
                </a:solidFill>
                <a:latin typeface="Arial"/>
              </a:rPr>
              <a:t>Merging to main automatically transitions GitHub Issue #1 to Closed (Done), updating sprint burn-down without human overhead.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8296" y="1243584"/>
            <a:ext cx="4148366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GITHUB REPO: COMMIT WITH GREEN CHECKMARK CI/CD BUILD PASS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720" y="1499616"/>
            <a:ext cx="4221518" cy="231343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github_repo_ci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296" y="1536192"/>
            <a:ext cx="4148366" cy="22402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43837" y="3867912"/>
            <a:ext cx="3537284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POWERSHELL TERMINAL: GITOPS SMART COMMIT &amp; BRANCH TRACKING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7261" y="4123944"/>
            <a:ext cx="3610436" cy="231343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al_terminal_gi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837" y="4160520"/>
            <a:ext cx="3537284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QUALITY ASSURANCE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Module 8: Automated Pytest Regression Verification (17/17 Passed)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2C55E"/>
                </a:solidFill>
                <a:latin typeface="Arial"/>
              </a:defRPr>
            </a:pPr>
            <a:r>
              <a:t>100% Automated Test Pass Rate: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Comprehensive Test Harness (tests/test_app.py): </a:t>
            </a:r>
            <a:r>
              <a:rPr sz="1150">
                <a:solidFill>
                  <a:srgbClr val="334155"/>
                </a:solidFill>
                <a:latin typeface="Arial"/>
              </a:rPr>
              <a:t>17 unit, integration, and security test suites covering every critical pathway in the application and watchdog pipeline.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ZeroDivision Guard Verification: </a:t>
            </a:r>
            <a:r>
              <a:rPr sz="1150">
                <a:solidFill>
                  <a:srgbClr val="334155"/>
                </a:solidFill>
                <a:latin typeface="Arial"/>
              </a:rPr>
              <a:t>Verifies that stock = 0 triggers stockout handling without raising unhandled runtime server exceptions.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Campus Feature Verification: </a:t>
            </a:r>
            <a:r>
              <a:rPr sz="1150">
                <a:solidFill>
                  <a:srgbClr val="334155"/>
                </a:solidFill>
                <a:latin typeface="Arial"/>
              </a:rPr>
              <a:t>Tests coupon validation (VITFEST50), 10-min live order tracking endpoint, 6 dark store inventory allocations, and cart calculations.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Execution Performance: </a:t>
            </a:r>
            <a:r>
              <a:rPr sz="1150">
                <a:solidFill>
                  <a:srgbClr val="334155"/>
                </a:solidFill>
                <a:latin typeface="Arial"/>
              </a:rPr>
              <a:t>Executes all 17 tests in 1.14 seconds with 100% test pass rate and zero regression failures.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670304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AUTHENTIC POWERSHELL TERMINAL: PYTEST 17/17 TESTS PASSING (100% PASS RATE)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944" y="1926336"/>
            <a:ext cx="6291072" cy="4011168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terminal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62912"/>
            <a:ext cx="6217920" cy="39380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CLOUD INFRASTRUCTURE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AWS Serverless Production Deployment &amp; Cost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Production Cloud Parameters: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AWS Region &amp; Account: </a:t>
            </a:r>
            <a:r>
              <a:rPr sz="1150">
                <a:solidFill>
                  <a:srgbClr val="334155"/>
                </a:solidFill>
                <a:latin typeface="Arial"/>
              </a:rPr>
              <a:t>Deployed serverless in Sydney (ap-southeast-2) region under verified AWS Account 401537512022.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Microservice Compute Sizing: </a:t>
            </a:r>
            <a:r>
              <a:rPr sz="1150">
                <a:solidFill>
                  <a:srgbClr val="334155"/>
                </a:solidFill>
                <a:latin typeface="Arial"/>
              </a:rPr>
              <a:t>Both target app and incident creator configured with 128 MB RAM (sub-300ms cold start latency).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100% Free Tier Eligible ($0.00/mo): </a:t>
            </a:r>
            <a:r>
              <a:rPr sz="1150">
                <a:solidFill>
                  <a:srgbClr val="334155"/>
                </a:solidFill>
                <a:latin typeface="Arial"/>
              </a:rPr>
              <a:t>Lambda (1M free requests/mo), CloudWatch (5GB free logs), and S3 (5GB free storage) incur zero continuous operational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3981" y="1243584"/>
            <a:ext cx="4216997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REAL AWS MANAGEMENT CONSOLE HOME: ACTIVE ACCOUNT &amp; SYDNEY 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7405" y="1499616"/>
            <a:ext cx="4290149" cy="2313432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_aws_console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981" y="1536192"/>
            <a:ext cx="4216997" cy="22402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0" y="4003548"/>
            <a:ext cx="621792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AWS SERVERLESS MICROSERVICE TOPOLOGY &amp; SECURITY BOUNDARIES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66944" y="4259580"/>
            <a:ext cx="6291072" cy="2042160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ure4_aws_top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4296156"/>
            <a:ext cx="6217920" cy="19690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WORKFLOW LIFECYCLE</a:t>
            </a:r>
          </a:p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Summary of the 7-Stage End-to-End Incident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64592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1E293B"/>
                </a:solidFill>
                <a:latin typeface="Arial"/>
              </a:defRPr>
            </a:pPr>
            <a:r>
              <a:t>From unhandled runtime microservice crash to zero-touch sprint closure across 7 automated stages in &lt; 24 seconds: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47133"/>
            <a:ext cx="10728655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293B"/>
                </a:solidFill>
                <a:latin typeface="Arial"/>
              </a:defRPr>
            </a:pPr>
            <a:r>
              <a:t>FIGURE 2: 7-STAGE AUTONOMOUS INCIDENT INGESTION &amp; SPRINT REMEDIATION LIFECYCLE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2103165"/>
            <a:ext cx="10801807" cy="3291748"/>
          </a:xfrm>
          <a:prstGeom prst="rect">
            <a:avLst/>
          </a:prstGeom>
          <a:solidFill>
            <a:srgbClr val="E2E8F0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9741"/>
            <a:ext cx="10728655" cy="32185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85216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284C7"/>
                </a:solidFill>
                <a:latin typeface="Arial"/>
              </a:defRPr>
            </a:pPr>
            <a:r>
              <a:t>Stages 1-2 (Detection &amp; Customer Insulation) -&gt; Stages 3-4 (CloudWatch Ingestion &amp; S3 Forensics) -&gt; Stages 5-7 (Agile Backlog Minting, GitOps Code Fix, Automated Pytest CI/CD Closure).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62895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Arial"/>
              </a:defRPr>
            </a:pPr>
            <a:r>
              <a:t>VERIFIED PROJECT OUTCOMES &amp; CONCLUSION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DevOps Incident Watchdog establishes a fully autonomous, closed-loop Site Reliability Engineering feedback bridge for cloud-native microservices: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488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8BDF8"/>
                </a:solidFill>
                <a:latin typeface="Arial"/>
              </a:defRPr>
            </a:pPr>
            <a:r>
              <a:t>&lt; 24s</a:t>
            </a:r>
          </a:p>
          <a:p>
            <a:pPr algn="ctr">
              <a:defRPr sz="1050">
                <a:solidFill>
                  <a:srgbClr val="CBD5E1"/>
                </a:solidFill>
                <a:latin typeface="Arial"/>
              </a:defRPr>
            </a:pPr>
            <a:r>
              <a:t>Mean Time to Acknowledge</a:t>
            </a:r>
            <a:br/>
            <a:r>
              <a:t>(Manual MTTA: 2-8 hrs)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21488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4ADE80"/>
                </a:solidFill>
                <a:latin typeface="Arial"/>
              </a:defRPr>
            </a:pPr>
            <a:r>
              <a:t>1.14s</a:t>
            </a:r>
          </a:p>
          <a:p>
            <a:pPr algn="ctr">
              <a:defRPr sz="1050">
                <a:solidFill>
                  <a:srgbClr val="CBD5E1"/>
                </a:solidFill>
                <a:latin typeface="Arial"/>
              </a:defRPr>
            </a:pPr>
            <a:r>
              <a:t>Pytest Suite Execution</a:t>
            </a:r>
            <a:br/>
            <a:r>
              <a:t>(17/17 Tests Passing 100%)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1488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ACC15"/>
                </a:solidFill>
                <a:latin typeface="Arial"/>
              </a:defRPr>
            </a:pPr>
            <a:r>
              <a:t>11 9's</a:t>
            </a:r>
          </a:p>
          <a:p>
            <a:pPr algn="ctr">
              <a:defRPr sz="1050">
                <a:solidFill>
                  <a:srgbClr val="CBD5E1"/>
                </a:solidFill>
                <a:latin typeface="Arial"/>
              </a:defRPr>
            </a:pPr>
            <a:r>
              <a:t>S3 Durability SLA</a:t>
            </a:r>
            <a:br/>
            <a:r>
              <a:t>(Immutable Forensics)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0" y="21488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A855F7"/>
                </a:solidFill>
                <a:latin typeface="Arial"/>
              </a:defRPr>
            </a:pPr>
            <a:r>
              <a:t>$0.00</a:t>
            </a:r>
          </a:p>
          <a:p>
            <a:pPr algn="ctr">
              <a:defRPr sz="1050">
                <a:solidFill>
                  <a:srgbClr val="CBD5E1"/>
                </a:solidFill>
                <a:latin typeface="Arial"/>
              </a:defRPr>
            </a:pPr>
            <a:r>
              <a:t>Monthly Infrastructure</a:t>
            </a:r>
            <a:br/>
            <a:r>
              <a:t>(100% Free Tier)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Key Takeaway for Faculty Evaluation:</a:t>
            </a:r>
          </a:p>
          <a:p>
            <a:pPr>
              <a:spcBef>
                <a:spcPts val="6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By shifting incident triage from manual, error-prone on-call rotations to software-defined, event-driven automation, the project demonstrates that Agile velocity and Site Reliability Engineering operate in complete harmony.</a:t>
            </a:r>
          </a:p>
          <a:p>
            <a:pPr>
              <a:spcBef>
                <a:spcPts val="1200"/>
              </a:spcBef>
              <a:defRPr sz="1600" b="1">
                <a:solidFill>
                  <a:srgbClr val="38BDF8"/>
                </a:solidFill>
                <a:latin typeface="Arial"/>
              </a:defRPr>
            </a:pPr>
            <a:r>
              <a:t>Thank You! Open for Faculty Demonstration &amp; Technical Q&amp;A.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S Hemal (24MIS0050) | ISWE406 Agile Development Process and DevOps | VIT Vellore Campus (SCOPE)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
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Arial"/>
              </a:defRPr>
            </a:pPr>
            <a:r>
              <a:t>PROJECT APPLICATION &amp; TECHNICAL INCIDENT WALKTHROUGH GUIDE</a:t>
            </a:r>
          </a:p>
          <a:p>
            <a:pPr>
              <a:spcBef>
                <a:spcPts val="1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FlashMart Quick-Commerce &amp;</a:t>
            </a:r>
            <a:br/>
            <a:r>
              <a:t>Autonomous DevOps Incident Watchdog</a:t>
            </a:r>
          </a:p>
          <a:p>
            <a:pPr>
              <a:spcBef>
                <a:spcPts val="12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Autonomous SRE Telemetry Ingestion, Private S3 Cloud Forensics, and Zero-Touch Agile Sprint Backlog Automation</a:t>
            </a:r>
          </a:p>
          <a:p>
            <a:pPr>
              <a:spcBef>
                <a:spcPts val="1000"/>
              </a:spcBef>
              <a:defRPr sz="1600">
                <a:solidFill>
                  <a:srgbClr val="0284C7"/>
                </a:solidFill>
                <a:latin typeface="Arial"/>
              </a:defRPr>
            </a:pPr>
            <a:r>
              <a:t>―――――――――――――――――――――――――――――――――――――――――――――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Author: S Hemal (Registration No: 24MIS0050)</a:t>
            </a:r>
            <a:br/>
            <a:r>
              <a:t>Course: ISWE406 Agile Development Process and DevOps</a:t>
            </a:r>
            <a:br/>
            <a:r>
              <a:t>School: School of Computer Science Engineering and Information Systems (SCOPE)</a:t>
            </a:r>
            <a:br/>
            <a:r>
              <a:t>Institution: Vellore Institute of Technology (VIT), Vellore 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Executive Problem Statement &amp; 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  <a:latin typeface="Arial"/>
              </a:defRPr>
            </a:pPr>
            <a:r>
              <a:t>The Modern Microservice Paradox: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Cloud-Native Scale: </a:t>
            </a:r>
            <a:r>
              <a:rPr sz="1150">
                <a:solidFill>
                  <a:srgbClr val="334155"/>
                </a:solidFill>
                <a:latin typeface="Arial"/>
              </a:rPr>
              <a:t>Modern distributed architectures generate thousands of log events per second, overwhelming human Site Reliability Engineering (SRE) operators.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On-Call Fatigue &amp; MTTA Drag: </a:t>
            </a:r>
            <a:r>
              <a:rPr sz="1150">
                <a:solidFill>
                  <a:srgbClr val="334155"/>
                </a:solidFill>
                <a:latin typeface="Arial"/>
              </a:rPr>
              <a:t>Manual incident triage requires engineers to grep CloudWatch logs, reproduce crashes locally, and write bug tickets, driving Mean-Time-to-Acknowledge (MTTA) to 2-8 hours.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Ephemeral State Loss: </a:t>
            </a:r>
            <a:r>
              <a:rPr sz="1150">
                <a:solidFill>
                  <a:srgbClr val="334155"/>
                </a:solidFill>
                <a:latin typeface="Arial"/>
              </a:rPr>
              <a:t>Serverless container recycling wipes in-memory crash context before root-cause forensic data can be preserved.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Uninsulated User Experience: </a:t>
            </a:r>
            <a:r>
              <a:rPr sz="1150">
                <a:solidFill>
                  <a:srgbClr val="334155"/>
                </a:solidFill>
                <a:latin typeface="Arial"/>
              </a:rPr>
              <a:t>Unhandled runtime 500 exceptions crash browser tabs with blank screens, deteriorating customer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2588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Arial"/>
              </a:defRPr>
            </a:pPr>
            <a:r>
              <a:t>Autonomous DevOps Watchdog Solution: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Zero-Human Telemetry Routing: </a:t>
            </a:r>
            <a:r>
              <a:rPr sz="1150">
                <a:solidFill>
                  <a:srgbClr val="334155"/>
                </a:solidFill>
                <a:latin typeface="Arial"/>
              </a:rPr>
              <a:t>Real-time AWS CloudWatch Metric Filters detect critical runtime exceptions asynchronously in under 4.2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Immutable Cloud Forensics: </a:t>
            </a:r>
            <a:r>
              <a:rPr sz="1150">
                <a:solidFill>
                  <a:srgbClr val="334155"/>
                </a:solidFill>
                <a:latin typeface="Arial"/>
              </a:rPr>
              <a:t>Mints cryptographic JSON dumps uploaded directly to private Amazon S3 with 11 9's durability and AES-256 encryption.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Zero-Touch Sprint Integration: </a:t>
            </a:r>
            <a:r>
              <a:rPr sz="1150">
                <a:solidFill>
                  <a:srgbClr val="334155"/>
                </a:solidFill>
                <a:latin typeface="Arial"/>
              </a:rPr>
              <a:t>Dispatches authenticated GitHub REST API calls to mint structured Bug User Stories with 6 Definition of Done criteria.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Defensive Client Shielding: </a:t>
            </a:r>
            <a:r>
              <a:rPr sz="1150">
                <a:solidFill>
                  <a:srgbClr val="334155"/>
                </a:solidFill>
                <a:latin typeface="Arial"/>
              </a:rPr>
              <a:t>SPA client intercepts HTTP 500 errors gracefully, displaying an informative stockout waitlist modal to insulate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Real-World Case Study: Zepto OnePlus Flash Sale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284C7"/>
                </a:solidFill>
                <a:latin typeface="Arial"/>
              </a:defRPr>
            </a:pPr>
            <a:r>
              <a:t>The Motivating Industry Incident (Observed by S Hemal):</a:t>
            </a:r>
          </a:p>
          <a:p>
            <a:pPr>
              <a:lnSpc>
                <a:spcPct val="115000"/>
              </a:lnSpc>
              <a:spcBef>
                <a:spcPts val="500"/>
              </a:spcBef>
            </a:pPr>
            <a:r>
              <a:rPr sz="1150" b="1">
                <a:solidFill>
                  <a:srgbClr val="1E293B"/>
                </a:solidFill>
                <a:latin typeface="Arial"/>
              </a:rPr>
              <a:t>The Flash Sale Offer: </a:t>
            </a:r>
            <a:r>
              <a:rPr sz="1100">
                <a:solidFill>
                  <a:srgbClr val="334155"/>
                </a:solidFill>
                <a:latin typeface="Arial"/>
              </a:rPr>
              <a:t>Zepto launched a promotional deal featuring a OnePlus 5G smartphone at ₹34,999 (~₹35k), tagged 'In Stock' on the storefront.</a:t>
            </a:r>
          </a:p>
          <a:p>
            <a:pPr>
              <a:lnSpc>
                <a:spcPct val="115000"/>
              </a:lnSpc>
              <a:spcBef>
                <a:spcPts val="500"/>
              </a:spcBef>
            </a:pPr>
            <a:r>
              <a:rPr sz="1150" b="1">
                <a:solidFill>
                  <a:srgbClr val="1E293B"/>
                </a:solidFill>
                <a:latin typeface="Arial"/>
              </a:rPr>
              <a:t>The 'Not Deliverable' Paradox: </a:t>
            </a:r>
            <a:r>
              <a:rPr sz="1100">
                <a:solidFill>
                  <a:srgbClr val="334155"/>
                </a:solidFill>
                <a:latin typeface="Arial"/>
              </a:rPr>
              <a:t>When attempting checkout, the app displayed 'Item Not Deliverable to Your Location'. Tested across multiple pin codes (Vellore, Bangalore, Chennai)—all returned the same delivery rejection.</a:t>
            </a:r>
          </a:p>
          <a:p>
            <a:pPr>
              <a:lnSpc>
                <a:spcPct val="115000"/>
              </a:lnSpc>
              <a:spcBef>
                <a:spcPts val="500"/>
              </a:spcBef>
            </a:pPr>
            <a:r>
              <a:rPr sz="1150" b="1">
                <a:solidFill>
                  <a:srgbClr val="1E293B"/>
                </a:solidFill>
                <a:latin typeface="Arial"/>
              </a:rPr>
              <a:t>Microservice Root Cause: </a:t>
            </a:r>
            <a:r>
              <a:rPr sz="1100">
                <a:solidFill>
                  <a:srgbClr val="334155"/>
                </a:solidFill>
                <a:latin typeface="Arial"/>
              </a:rPr>
              <a:t>Localized dark store stock hit 0 during flash concurrency. The backend allocation worker failed (division by zero), triggering defensive address rejection to avoid white-screen 500 crashes.</a:t>
            </a:r>
          </a:p>
          <a:p>
            <a:pPr>
              <a:lnSpc>
                <a:spcPct val="115000"/>
              </a:lnSpc>
              <a:spcBef>
                <a:spcPts val="500"/>
              </a:spcBef>
            </a:pPr>
            <a:r>
              <a:rPr sz="1150" b="1">
                <a:solidFill>
                  <a:srgbClr val="1E293B"/>
                </a:solidFill>
                <a:latin typeface="Arial"/>
              </a:rPr>
              <a:t>The 48-Hour Manual Triage Drag: </a:t>
            </a:r>
            <a:r>
              <a:rPr sz="1100">
                <a:solidFill>
                  <a:srgbClr val="334155"/>
                </a:solidFill>
                <a:latin typeface="Arial"/>
              </a:rPr>
              <a:t>It took 2 full days for human operations to manually reconcile dark store logs and update the item badge to 'Out of Stock' (Sold Out).</a:t>
            </a:r>
          </a:p>
          <a:p>
            <a:pPr>
              <a:lnSpc>
                <a:spcPct val="115000"/>
              </a:lnSpc>
              <a:spcBef>
                <a:spcPts val="500"/>
              </a:spcBef>
            </a:pPr>
            <a:r>
              <a:rPr sz="1150" b="1">
                <a:solidFill>
                  <a:srgbClr val="1E293B"/>
                </a:solidFill>
                <a:latin typeface="Arial"/>
              </a:rPr>
              <a:t>DevOps Watchdog Paradigm Shift: </a:t>
            </a:r>
            <a:r>
              <a:rPr sz="1100">
                <a:solidFill>
                  <a:srgbClr val="334155"/>
                </a:solidFill>
                <a:latin typeface="Arial"/>
              </a:rPr>
              <a:t>FlashMart automates this entire lifecycle: CloudWatch filter detects the stockout in 4.2s, archives S3 forensics, and mints GitHub Issue #1 in &lt; 24s!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840048"/>
            <a:ext cx="6263640" cy="4092302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zepto_real_incident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62908"/>
            <a:ext cx="6217920" cy="40465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Decoupled Three-Tier System Architecture &amp; Boundary 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Three-Tier Decoupled Pipeline: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1 (Client Presentation): </a:t>
            </a:r>
            <a:r>
              <a:rPr sz="1150">
                <a:solidFill>
                  <a:srgbClr val="334155"/>
                </a:solidFill>
                <a:latin typeface="Arial"/>
              </a:rPr>
              <a:t>FlashMart Tech storefront with geofenced dark store selector, dynamic cart drawer, and defensive HTTP 500 interception shield.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2 (Compute &amp; Execution): </a:t>
            </a:r>
            <a:r>
              <a:rPr sz="1150">
                <a:solidFill>
                  <a:srgbClr val="334155"/>
                </a:solidFill>
                <a:latin typeface="Arial"/>
              </a:rPr>
              <a:t>Decoupled AWS Lambda microservices (target app &amp; watchdog incident creator) running in isolated serverless sandboxes.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Tier 3 (Cloud Services &amp; Agile Backlog): </a:t>
            </a:r>
            <a:r>
              <a:rPr sz="1150">
                <a:solidFill>
                  <a:srgbClr val="334155"/>
                </a:solidFill>
                <a:latin typeface="Arial"/>
              </a:rPr>
              <a:t>AWS CloudWatch Metric Filters, Amazon S3 forensic vault (401537512022), and GitHub Issues Agile backlog.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Architectural Invariant: </a:t>
            </a:r>
            <a:r>
              <a:rPr sz="1150">
                <a:solidFill>
                  <a:srgbClr val="334155"/>
                </a:solidFill>
                <a:latin typeface="Arial"/>
              </a:rPr>
              <a:t>Total blast radius isolation: crashes in target application logic cannot degrade or block the watchdog telemetry pipeline.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2697480"/>
            <a:ext cx="6263640" cy="237744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720340"/>
            <a:ext cx="6217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1A: Storefront Catalog, Search &amp; Campus Dark 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Catalog &amp; Routing Architecture: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12-Item Multi-Category Catalog: </a:t>
            </a:r>
            <a:r>
              <a:rPr sz="1150">
                <a:solidFill>
                  <a:srgbClr val="334155"/>
                </a:solidFill>
                <a:latin typeface="Arial"/>
              </a:rPr>
              <a:t>Covers Smartphones, Laptops, Audio, Wearables, Gaming, and Power Essentials with live stock numbers and zero framework bloat.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Dynamic Search &amp; Category Chips: </a:t>
            </a:r>
            <a:r>
              <a:rPr sz="1150">
                <a:solidFill>
                  <a:srgbClr val="334155"/>
                </a:solidFill>
                <a:latin typeface="Arial"/>
              </a:rPr>
              <a:t>Client-side category filtering (⚡ Flash Deals, 💻 Laptops, 🎧 Audio, etc.) and instant real-time DOM query search matching.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6 Geofenced Dark Store Nodes: </a:t>
            </a:r>
            <a:r>
              <a:rPr sz="1150">
                <a:solidFill>
                  <a:srgbClr val="334155"/>
                </a:solidFill>
                <a:latin typeface="Arial"/>
              </a:rPr>
              <a:t>Simulates dynamic micro-fulfillment routing across VIT Vellore Hostels (Men's Q-Block, Ladies L-Block), Tech Tower, and Anna Auditorium.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Active Student Session Banner: </a:t>
            </a:r>
            <a:r>
              <a:rPr sz="1150">
                <a:solidFill>
                  <a:srgbClr val="334155"/>
                </a:solidFill>
                <a:latin typeface="Arial"/>
              </a:rPr>
              <a:t>Verified student header: S Hemal (24MIS0050) | ISWE406 Agile &amp; DevOps | VIT Vellore Campus (SCOPE).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980961"/>
            <a:ext cx="6263640" cy="3810476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storefron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03821"/>
            <a:ext cx="6217920" cy="37647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1B: Interactive Cart Drawer &amp; Campus Payment Gateways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Cart &amp; Transaction Management: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Persistent Sliding Cart Drawer: </a:t>
            </a:r>
            <a:r>
              <a:rPr sz="1150">
                <a:solidFill>
                  <a:srgbClr val="334155"/>
                </a:solidFill>
                <a:latin typeface="Arial"/>
              </a:rPr>
              <a:t>Dynamic quantity increment/decrement, live subtotal computation, zero packaging fee logic, and full drawer overlay.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Campus Promotional Coupon Engine: </a:t>
            </a:r>
            <a:r>
              <a:rPr sz="1150">
                <a:solidFill>
                  <a:srgbClr val="334155"/>
                </a:solidFill>
                <a:latin typeface="Arial"/>
              </a:rPr>
              <a:t>REST endpoint validates student coupon VITFEST50 (10% student festival discount: -₹3,500 applied) with real-time bill deduction.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4 Campus Payment Gateways: </a:t>
            </a:r>
            <a:r>
              <a:rPr sz="1150">
                <a:solidFill>
                  <a:srgbClr val="334155"/>
                </a:solidFill>
                <a:latin typeface="Arial"/>
              </a:rPr>
              <a:t>Supports Instant UPI (GPay/PhonePe), VIT Student RFID Smart Card tap-and-pay, Debit/Credit Card, and Cash on Delivery.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Client-Side Order Validation: </a:t>
            </a:r>
            <a:r>
              <a:rPr sz="1150">
                <a:solidFill>
                  <a:srgbClr val="334155"/>
                </a:solidFill>
                <a:latin typeface="Arial"/>
              </a:rPr>
              <a:t>Secures itemized billing details before transmitting JSON checkout payload to backend worker endpoint.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920240"/>
            <a:ext cx="6263640" cy="393192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cart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4310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1C: Sub-10-Minute Micro-Fulfillment &amp; Live Order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Micro-Fulfillment &amp; Driver Telemetry: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4-Stage Visual Progress Stepper: </a:t>
            </a:r>
            <a:r>
              <a:rPr sz="1150">
                <a:solidFill>
                  <a:srgbClr val="334155"/>
                </a:solidFill>
                <a:latin typeface="Arial"/>
              </a:rPr>
              <a:t>Tracks order lifecycle: Order Placed -&gt; Packed at Dark Store -&gt; Out for Delivery (Active) -&gt; Delivered.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Live Countdown Timer: </a:t>
            </a:r>
            <a:r>
              <a:rPr sz="1150">
                <a:solidFill>
                  <a:srgbClr val="334155"/>
                </a:solidFill>
                <a:latin typeface="Arial"/>
              </a:rPr>
              <a:t>Active countdown clock simulating hyper-local delivery arriving in 05:42 minutes to student residence.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Assigned Courier Profile: </a:t>
            </a:r>
            <a:r>
              <a:rPr sz="1150">
                <a:solidFill>
                  <a:srgbClr val="334155"/>
                </a:solidFill>
                <a:latin typeface="Arial"/>
              </a:rPr>
              <a:t>Features verified delivery partner Ramesh Kumar (⚡ Fast Express Courier, 4.9★ rating) on Electric Scooter TN-23-AB-1024.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Secure Handover OTP: </a:t>
            </a:r>
            <a:r>
              <a:rPr sz="1150">
                <a:solidFill>
                  <a:srgbClr val="334155"/>
                </a:solidFill>
                <a:latin typeface="Arial"/>
              </a:rPr>
              <a:t>Generates 4-digit verification code (OTP: 4921) ensuring zero-tamper physical delivery at Men's Hostel Q-Block.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980961"/>
            <a:ext cx="6263640" cy="3810476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storefron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03821"/>
            <a:ext cx="6217920" cy="3764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3: Dark Store Stockout Edge-Case &amp; Runtime Server Crash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Arial"/>
              </a:defRPr>
            </a:pPr>
            <a:r>
              <a:t>Runtime Microservice Failure: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The Stockout Edge-Case Condition: </a:t>
            </a:r>
            <a:r>
              <a:rPr sz="1150">
                <a:solidFill>
                  <a:srgbClr val="334155"/>
                </a:solidFill>
                <a:latin typeface="Arial"/>
              </a:rPr>
              <a:t>During flash sales, local dark store inventory hits stock = 0. The checkout inventory allocation formula executes: allocation = 100 / stock_count.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Unhandled Python Runtime Exception: </a:t>
            </a:r>
            <a:r>
              <a:rPr sz="1150">
                <a:solidFill>
                  <a:srgbClr val="334155"/>
                </a:solidFill>
                <a:latin typeface="Arial"/>
              </a:rPr>
              <a:t>Raises fatal ZeroDivisionError: division by zero in app.py at line 142, crashing the worker thread and emitting HTTP 500.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Structured Telemetry Emission: </a:t>
            </a:r>
            <a:r>
              <a:rPr sz="1150">
                <a:solidFill>
                  <a:srgbClr val="334155"/>
                </a:solidFill>
                <a:latin typeface="Arial"/>
              </a:rPr>
              <a:t>Logger immediately intercepts stack trace and emits structured JSON stdout: [CRITICAL_ALERT] INCIDENT_DETECTED.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Forensic Metadata Captured: </a:t>
            </a:r>
            <a:r>
              <a:rPr sz="1150">
                <a:solidFill>
                  <a:srgbClr val="334155"/>
                </a:solidFill>
                <a:latin typeface="Arial"/>
              </a:rPr>
              <a:t>Includes incident ID INC-1791945923-07CD12B5, ISO 8601 timestamp, target service, error type, and complete traceback.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894332"/>
            <a:ext cx="6263640" cy="3983736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terminal_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17192"/>
            <a:ext cx="6217920" cy="3938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2: Client Exception Interception &amp; Customer Insulation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Defensive Client Safeguards: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Client HTTP 500 Interception: </a:t>
            </a:r>
            <a:r>
              <a:rPr sz="1150">
                <a:solidFill>
                  <a:srgbClr val="334155"/>
                </a:solidFill>
                <a:latin typeface="Arial"/>
              </a:rPr>
              <a:t>SPA frontend catches server 500 Internal Server Error asynchronously, completely preventing browser white-screen crashes.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Polite Waitlist Modal: </a:t>
            </a:r>
            <a:r>
              <a:rPr sz="1150">
                <a:solidFill>
                  <a:srgbClr val="334155"/>
                </a:solidFill>
                <a:latin typeface="Arial"/>
              </a:rPr>
              <a:t>Renders 'Item Not Deliverable to Your Location' drawer explaining stock exhaustion at Men's Hostel Dark Store (VIT Vellore).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Customer Trust &amp; Retention: </a:t>
            </a:r>
            <a:r>
              <a:rPr sz="1150">
                <a:solidFill>
                  <a:srgbClr val="334155"/>
                </a:solidFill>
                <a:latin typeface="Arial"/>
              </a:rPr>
              <a:t>Offers a 'Notify Me When Available' waitlist subscription button and alternative dark store pickup selection, preserving brand reputation.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Seamless User Experience: </a:t>
            </a:r>
            <a:r>
              <a:rPr sz="1150">
                <a:solidFill>
                  <a:srgbClr val="334155"/>
                </a:solidFill>
                <a:latin typeface="Arial"/>
              </a:rPr>
              <a:t>Shields end users from raw infrastructure failures while background SRE automation handles the incident.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920240"/>
            <a:ext cx="6263640" cy="393192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stockout_waitlist_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4310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4: AWS CloudWatch Metric Ingestion &amp; SRE Backstage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Sub-5-Second Incident Ingestion: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Non-Invasive Metric Filter Pattern: </a:t>
            </a:r>
            <a:r>
              <a:rPr sz="1150">
                <a:solidFill>
                  <a:srgbClr val="334155"/>
                </a:solidFill>
                <a:latin typeface="Arial"/>
              </a:rPr>
              <a:t>CloudWatch Metric Filter continuously monitors log group /aws/lambda/watchdog-target-app matching pattern [CRITICAL_ALERT].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 Polling Latency: </a:t>
            </a:r>
            <a:r>
              <a:rPr sz="1150">
                <a:solidFill>
                  <a:srgbClr val="334155"/>
                </a:solidFill>
                <a:latin typeface="Arial"/>
              </a:rPr>
              <a:t>Fires CloudWatch alarm state asynchronously and dispatches execution event to Watchdog Lambda within 4.2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Dedicated SRE Backstage Console: </a:t>
            </a:r>
            <a:r>
              <a:rPr sz="1150">
                <a:solidFill>
                  <a:srgbClr val="334155"/>
                </a:solidFill>
                <a:latin typeface="Arial"/>
              </a:rPr>
              <a:t>Web-based operator dashboard (/?view=devops) surfaces live incident metrics, CloudWatch alarm status, and Agile backlog sync.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Mean Time to Acknowledge (MTTA): </a:t>
            </a:r>
            <a:r>
              <a:rPr sz="1150">
                <a:solidFill>
                  <a:srgbClr val="334155"/>
                </a:solidFill>
                <a:latin typeface="Arial"/>
              </a:rPr>
              <a:t>Reduces incident discovery latency from 48 hours of manual log grepping down to &lt; 24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920240"/>
            <a:ext cx="6263640" cy="393192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sre_backstag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4310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5: Cryptographic Forensic Archival in Amazon S3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Tamper-Proof Audit Compliance: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Comprehensive Forensic JSON Schema: </a:t>
            </a:r>
            <a:r>
              <a:rPr sz="1150">
                <a:solidFill>
                  <a:srgbClr val="334155"/>
                </a:solidFill>
                <a:latin typeface="Arial"/>
              </a:rPr>
              <a:t>Captures uncompressed traceback, git commit SHA, HTTP headers, dark store hub node, environment, and UTC timestamp.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11 9's Durability Guarantee: </a:t>
            </a:r>
            <a:r>
              <a:rPr sz="1150">
                <a:solidFill>
                  <a:srgbClr val="334155"/>
                </a:solidFill>
                <a:latin typeface="Arial"/>
              </a:rPr>
              <a:t>Stored in private S3 bucket devops-incident-watchdog-logs-401537512022 with Block Public Access and AES-256 encryption.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Cryptographic INC-ID Naming: </a:t>
            </a:r>
            <a:r>
              <a:rPr sz="1150">
                <a:solidFill>
                  <a:srgbClr val="334155"/>
                </a:solidFill>
                <a:latin typeface="Arial"/>
              </a:rPr>
              <a:t>Mints immutable key: incidents/2026-10-14/INC-1791945923-07CD12B5.json for tamper-proof audit trails.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333" y="1303020"/>
            <a:ext cx="5122292" cy="251460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aws_s3_bucket_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193" y="1325880"/>
            <a:ext cx="5076572" cy="2468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944616" y="3909060"/>
            <a:ext cx="4935726" cy="251460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al_aws_s3_incident_du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476" y="3931920"/>
            <a:ext cx="489000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6: Autonomous Bug Story Minting on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Zero-Touch Sprint Integration: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GitHub REST API v3 Integration: </a:t>
            </a:r>
            <a:r>
              <a:rPr sz="1150">
                <a:solidFill>
                  <a:srgbClr val="334155"/>
                </a:solidFill>
                <a:latin typeface="Arial"/>
              </a:rPr>
              <a:t>Watchdog Lambda dispatches authenticated HTTP POST call to mint structured Bug User Story within 24 seconds of crash.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Standardized Agile Bug Story: </a:t>
            </a:r>
            <a:r>
              <a:rPr sz="1150">
                <a:solidFill>
                  <a:srgbClr val="334155"/>
                </a:solidFill>
                <a:latin typeface="Arial"/>
              </a:rPr>
              <a:t>Formatted as: 'As an SRE on-call engineer, I need the checkout allocation microservice to handle stock = 0 without throwing ZeroDivisionError...'.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Automated Diagnostics Table: </a:t>
            </a:r>
            <a:r>
              <a:rPr sz="1150">
                <a:solidFill>
                  <a:srgbClr val="334155"/>
                </a:solidFill>
                <a:latin typeface="Arial"/>
              </a:rPr>
              <a:t>Embeds incident ID, error type, target microservice, VIT campus hub, and direct S3 forensic URI link.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6 Definition of Done (DoD) Criteria: </a:t>
            </a:r>
            <a:r>
              <a:rPr sz="1150">
                <a:solidFill>
                  <a:srgbClr val="334155"/>
                </a:solidFill>
                <a:latin typeface="Arial"/>
              </a:rPr>
              <a:t>Includes explicit acceptance checkboxes for code guard, customer insulation, and pytest CI regression verification.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738884"/>
            <a:ext cx="6263640" cy="4294632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github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761744"/>
            <a:ext cx="6217920" cy="424891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7: GitHub Actions CI/CD &amp; Smart Commit Automated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GitOps Automated Lifecycle: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GitOps Smart Commit Syntax: </a:t>
            </a:r>
            <a:r>
              <a:rPr sz="1150">
                <a:solidFill>
                  <a:srgbClr val="334155"/>
                </a:solidFill>
                <a:latin typeface="Arial"/>
              </a:rPr>
              <a:t>Developer commits code fix referencing issue ID: git commit -am 'Fixes #1: Handled division by zero in checkout logic'.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GitHub Actions CI Runner: </a:t>
            </a:r>
            <a:r>
              <a:rPr sz="1150">
                <a:solidFill>
                  <a:srgbClr val="334155"/>
                </a:solidFill>
                <a:latin typeface="Arial"/>
              </a:rPr>
              <a:t>Triggers automated CI regression suite on push, verifying all test suites on Ubuntu runner.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Green Checkmark Build Status: </a:t>
            </a:r>
            <a:r>
              <a:rPr sz="1150">
                <a:solidFill>
                  <a:srgbClr val="334155"/>
                </a:solidFill>
                <a:latin typeface="Arial"/>
              </a:rPr>
              <a:t>GitHub repository confirms passing build with green checkmark next to the commit SHA in main branch.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Zero-Touch Issue Transition: </a:t>
            </a:r>
            <a:r>
              <a:rPr sz="1150">
                <a:solidFill>
                  <a:srgbClr val="334155"/>
                </a:solidFill>
                <a:latin typeface="Arial"/>
              </a:rPr>
              <a:t>Merging to main automatically transitions GitHub Issue #1 to Closed (Done), updating sprint burn-down without human overhead.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63388" y="1303020"/>
            <a:ext cx="4898182" cy="251460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github_repo_ci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6248" y="1325880"/>
            <a:ext cx="4852462" cy="2468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40504" y="3909060"/>
            <a:ext cx="3943951" cy="251460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al_terminal_gi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364" y="3931920"/>
            <a:ext cx="3898231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Module 8: Automated Pytest Regression Verification (17/17 Passed)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C55E"/>
                </a:solidFill>
                <a:latin typeface="Arial"/>
              </a:defRPr>
            </a:pPr>
            <a:r>
              <a:t>100% Automated Test Pass Rate: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Comprehensive Test Harness (tests/test_app.py): </a:t>
            </a:r>
            <a:r>
              <a:rPr sz="1150">
                <a:solidFill>
                  <a:srgbClr val="334155"/>
                </a:solidFill>
                <a:latin typeface="Arial"/>
              </a:rPr>
              <a:t>17 unit, integration, and security test suites covering every critical pathway in the application and watchdog pipeline.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ZeroDivision Guard Verification: </a:t>
            </a:r>
            <a:r>
              <a:rPr sz="1150">
                <a:solidFill>
                  <a:srgbClr val="334155"/>
                </a:solidFill>
                <a:latin typeface="Arial"/>
              </a:rPr>
              <a:t>Verifies that stock = 0 triggers stockout handling without raising unhandled runtime server exceptions.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Campus Feature Verification: </a:t>
            </a:r>
            <a:r>
              <a:rPr sz="1150">
                <a:solidFill>
                  <a:srgbClr val="334155"/>
                </a:solidFill>
                <a:latin typeface="Arial"/>
              </a:rPr>
              <a:t>Tests coupon validation (VITFEST50), 10-min live order tracking endpoint, 6 dark store inventory allocations, and cart calculations.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Execution Performance: </a:t>
            </a:r>
            <a:r>
              <a:rPr sz="1150">
                <a:solidFill>
                  <a:srgbClr val="334155"/>
                </a:solidFill>
                <a:latin typeface="Arial"/>
              </a:rPr>
              <a:t>Executes all 17 tests in 0.86 seconds with 100% test pass rate and zero regression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0" y="1894332"/>
            <a:ext cx="6263640" cy="3983736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terminal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17192"/>
            <a:ext cx="6217920" cy="39380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AWS Serverless Production Deployment &amp; Cost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Production Cloud Parameters: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AWS Region &amp; Account: </a:t>
            </a:r>
            <a:r>
              <a:rPr sz="1150">
                <a:solidFill>
                  <a:srgbClr val="334155"/>
                </a:solidFill>
                <a:latin typeface="Arial"/>
              </a:rPr>
              <a:t>Deployed serverless in Sydney (ap-southeast-2) region under verified AWS Account 401537512022.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Microservice Compute Sizing: </a:t>
            </a:r>
            <a:r>
              <a:rPr sz="1150">
                <a:solidFill>
                  <a:srgbClr val="334155"/>
                </a:solidFill>
                <a:latin typeface="Arial"/>
              </a:rPr>
              <a:t>Both target app and incident creator configured with 128 MB RAM (sub-300ms cold start latency).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00" b="1">
                <a:solidFill>
                  <a:srgbClr val="1E293B"/>
                </a:solidFill>
                <a:latin typeface="Arial"/>
              </a:rPr>
              <a:t>100% Free Tier Eligible ($0.00/mo): </a:t>
            </a:r>
            <a:r>
              <a:rPr sz="1150">
                <a:solidFill>
                  <a:srgbClr val="334155"/>
                </a:solidFill>
                <a:latin typeface="Arial"/>
              </a:rPr>
              <a:t>Lambda (1M free requests/mo), CloudWatch (5GB free logs), and S3 (5GB free storage) incur zero continuous operational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20740" y="1303020"/>
            <a:ext cx="4983480" cy="2514600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aws_console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4937760" cy="2468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80660" y="4158996"/>
            <a:ext cx="6263640" cy="2014728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ure4_aws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4181856"/>
            <a:ext cx="6217920" cy="19690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Summary of the 7-Stage End-to-End Incident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S Hemal (24MIS0050) | ISWE406</a:t>
            </a:r>
            <a:br/>
            <a:r>
              <a:t>VIT Vellore Campus (SCOPE)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1E293B"/>
                </a:solidFill>
                <a:latin typeface="Arial"/>
              </a:defRPr>
            </a:pPr>
            <a:r>
              <a:t>From unhandled runtime microservice crash to zero-touch sprint closure across 7 automated stages in &lt; 24 seconds: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" y="2116881"/>
            <a:ext cx="10774375" cy="3264316"/>
          </a:xfrm>
          <a:prstGeom prst="rect">
            <a:avLst/>
          </a:prstGeom>
          <a:solidFill>
            <a:srgbClr val="E2E8F0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9741"/>
            <a:ext cx="10728655" cy="32185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97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Arial"/>
              </a:defRPr>
            </a:pPr>
            <a:r>
              <a:t>Stages 1-2 (Detection &amp; Customer Insulation) -&gt; Stages 3-4 (CloudWatch Ingestion &amp; S3 Forensics) -&gt; Stages 5-7 (Agile Backlog Minting, GitOps Code Fix, Automated Pytest CI/CD Closure).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62895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Arial"/>
              </a:defRPr>
            </a:pPr>
            <a:r>
              <a:t>VERIFIED PROJECT OUTCOMES &amp; CONCLUSION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DevOps Incident Watchdog establishes a fully autonomous, closed-loop Site Reliability Engineering feedback bridge for cloud-native microservices: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8BDF8"/>
                </a:solidFill>
                <a:latin typeface="Arial"/>
              </a:defRPr>
            </a:pPr>
            <a:r>
              <a:t>&lt; 24s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Autonomous MTTA</a:t>
            </a:r>
            <a:br/>
            <a:r>
              <a:t>(vs 48-Hour Zepto Ops Lag)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4ADE80"/>
                </a:solidFill>
                <a:latin typeface="Arial"/>
              </a:defRPr>
            </a:pPr>
            <a:r>
              <a:t>0.86s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Pytest Suite Execution</a:t>
            </a:r>
            <a:br/>
            <a:r>
              <a:t>(17/17 Tests Passing 100%)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ACC15"/>
                </a:solidFill>
                <a:latin typeface="Arial"/>
              </a:defRPr>
            </a:pPr>
            <a:r>
              <a:t>11 9's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S3 Durability SLA</a:t>
            </a:r>
            <a:br/>
            <a:r>
              <a:t>(Immutable Forensics)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0" y="21488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A855F7"/>
                </a:solidFill>
                <a:latin typeface="Arial"/>
              </a:defRPr>
            </a:pPr>
            <a:r>
              <a:t>$0.00</a:t>
            </a:r>
          </a:p>
          <a:p>
            <a:pPr algn="ctr">
              <a:defRPr sz="1050">
                <a:solidFill>
                  <a:srgbClr val="CBD5E1"/>
                </a:solidFill>
                <a:latin typeface="Arial"/>
              </a:defRPr>
            </a:pPr>
            <a:r>
              <a:t>Monthly Infrastructure</a:t>
            </a:r>
            <a:br/>
            <a:r>
              <a:t>(100% Free Tier)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Key Takeaway for Faculty Evaluation:</a:t>
            </a:r>
          </a:p>
          <a:p>
            <a:pPr>
              <a:spcBef>
                <a:spcPts val="6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By replacing 48 hours of manual, error-prone quick-commerce incident triage with software-defined, event-driven automation, the project demonstrates that Agile velocity and Site Reliability Engineering operate in complete harmony.</a:t>
            </a:r>
          </a:p>
          <a:p>
            <a:pPr>
              <a:spcBef>
                <a:spcPts val="12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Thank You! Open for Faculty Demonstration &amp; Technical Q&amp;A.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 Hemal (24MIS0050) | ISWE406 Agile Development Process and DevOps | VIT Vellore Campus (SCOPE)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